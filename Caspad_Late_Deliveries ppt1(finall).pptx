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999B83-69A7-4EE9-A4D7-2B688F073E75}" v="2" dt="2026-10-08T09:30:43.9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hika n" userId="0e67ea03a2708418" providerId="LiveId" clId="{8B9D45FA-D12A-4B4D-986E-215688B538A8}"/>
    <pc:docChg chg="modSld">
      <pc:chgData name="keerthika n" userId="0e67ea03a2708418" providerId="LiveId" clId="{8B9D45FA-D12A-4B4D-986E-215688B538A8}" dt="2026-10-08T09:30:43.967" v="1"/>
      <pc:docMkLst>
        <pc:docMk/>
      </pc:docMkLst>
      <pc:sldChg chg="modSp">
        <pc:chgData name="keerthika n" userId="0e67ea03a2708418" providerId="LiveId" clId="{8B9D45FA-D12A-4B4D-986E-215688B538A8}" dt="2026-10-08T09:30:43.967" v="1"/>
        <pc:sldMkLst>
          <pc:docMk/>
          <pc:sldMk cId="0" sldId="258"/>
        </pc:sldMkLst>
        <pc:spChg chg="mod">
          <ac:chgData name="keerthika n" userId="0e67ea03a2708418" providerId="LiveId" clId="{8B9D45FA-D12A-4B4D-986E-215688B538A8}" dt="2026-10-08T09:30:43.967" v="1"/>
          <ac:spMkLst>
            <pc:docMk/>
            <pc:sldMk cId="0" sldId="258"/>
            <ac:spMk id="21" creationId="{00000000-0000-0000-0000-000000000000}"/>
          </ac:spMkLst>
        </pc:spChg>
        <pc:spChg chg="mod">
          <ac:chgData name="keerthika n" userId="0e67ea03a2708418" providerId="LiveId" clId="{8B9D45FA-D12A-4B4D-986E-215688B538A8}" dt="2026-10-08T09:28:37.987" v="0"/>
          <ac:spMkLst>
            <pc:docMk/>
            <pc:sldMk cId="0" sldId="258"/>
            <ac:spMk id="34" creationId="{8DB5624C-D9AD-A8CD-E881-FA97F131475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9586629685473711E-2"/>
          <c:y val="0.19814119388922538"/>
          <c:w val="0.33393582894336787"/>
          <c:h val="0.39743589743589741"/>
        </c:manualLayout>
      </c:layout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  <c:majorUnit val="5"/>
      </c:valAx>
      <c:spPr>
        <a:noFill/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9731" y="1051560"/>
            <a:ext cx="417223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28996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&amp; AI ENGINEER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8415" y="1828800"/>
            <a:ext cx="793486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43448"/>
                </a:solidFill>
                <a:latin typeface="Aptos"/>
              </a:defRPr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 Deliveries &amp; What Customers Say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892040" y="3429000"/>
            <a:ext cx="2423160" cy="36576"/>
          </a:xfrm>
          <a:prstGeom prst="rect">
            <a:avLst/>
          </a:prstGeom>
          <a:solidFill>
            <a:srgbClr val="22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18570" y="3977639"/>
            <a:ext cx="235455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4344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KEERTHIKA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32263" y="4572000"/>
            <a:ext cx="468448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505F69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 Technology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(2026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Passout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1021EF-1831-D520-115E-AF275C080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99" y="2647600"/>
            <a:ext cx="3258577" cy="31217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0713" y="220481"/>
            <a:ext cx="530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-25262"/>
            <a:ext cx="12192000" cy="707886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anchor="t">
            <a:spAutoFit/>
          </a:bodyPr>
          <a:lstStyle/>
          <a:p>
            <a:pPr algn="l"/>
            <a:r>
              <a:rPr lang="en-IN" sz="4000" b="1" dirty="0">
                <a:solidFill>
                  <a:srgbClr val="0F3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3868" y="1463197"/>
            <a:ext cx="6400800" cy="3383280"/>
          </a:xfrm>
          <a:prstGeom prst="roundRect">
            <a:avLst/>
          </a:prstGeom>
          <a:solidFill>
            <a:srgbClr val="EDF7FF"/>
          </a:solidFill>
          <a:ln w="1016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0762" y="1612589"/>
            <a:ext cx="25603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dirty="0">
                <a:solidFill>
                  <a:srgbClr val="0F305B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Problem</a:t>
            </a:r>
            <a:r>
              <a:rPr lang="en-IN" sz="2000" dirty="0">
                <a:solidFill>
                  <a:srgbClr val="0F305B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 :</a:t>
            </a:r>
            <a:endParaRPr sz="2000" dirty="0">
              <a:solidFill>
                <a:srgbClr val="0F305B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7686" y="2263146"/>
            <a:ext cx="5873164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/>
            <a:r>
              <a:rPr sz="2000" b="1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 deliveries can make customers</a:t>
            </a:r>
            <a:r>
              <a:rPr lang="en-US" sz="2000" b="1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unhappy and affect the overall</a:t>
            </a:r>
            <a:r>
              <a:rPr lang="en-US" sz="2000" b="1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b="1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shopping experience.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6714" y="880683"/>
            <a:ext cx="36576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0F3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We Want to Understand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8509" y="1356214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23978F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8549" y="1347713"/>
            <a:ext cx="34290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many orders were delivered late?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8509" y="2005279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23978F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5314" y="1961070"/>
            <a:ext cx="34290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months had more late deliveries?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536" y="2788152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23978F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5314" y="2716625"/>
            <a:ext cx="34290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late deliveries get lower review scores?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4900" y="3564932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23978F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8791" y="3520440"/>
            <a:ext cx="34290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customers saying in their reviews?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536" y="4336764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23978F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8791" y="4232578"/>
            <a:ext cx="34290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there a difference between late and on-time orders?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0773" y="5539255"/>
            <a:ext cx="10962969" cy="955796"/>
          </a:xfrm>
          <a:prstGeom prst="roundRect">
            <a:avLst/>
          </a:prstGeom>
          <a:solidFill>
            <a:schemeClr val="bg1"/>
          </a:solidFill>
          <a:ln w="1016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01565" y="5474392"/>
            <a:ext cx="133502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0F3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4845" y="5824144"/>
            <a:ext cx="9618897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delivery problems and customer feedback to help the Operations team improve delivery and customer experience.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808B37D-89F3-E9EB-A6EC-07FA57F30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33" y="5614447"/>
            <a:ext cx="794472" cy="79447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1ED089F-3500-BB2E-7540-BF0DE022D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759" y="711147"/>
            <a:ext cx="1186241" cy="118624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6F7AD73-B1FE-E5A4-7B63-44C6470A9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208" y="3152551"/>
            <a:ext cx="5856641" cy="14304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" y="685800"/>
            <a:ext cx="530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678"/>
            <a:ext cx="12192000" cy="707886"/>
          </a:xfrm>
          <a:prstGeom prst="rect">
            <a:avLst/>
          </a:prstGeom>
          <a:solidFill>
            <a:schemeClr val="accent5"/>
          </a:solidFill>
        </p:spPr>
        <p:txBody>
          <a:bodyPr wrap="square" anchor="t">
            <a:spAutoFit/>
          </a:bodyPr>
          <a:lstStyle/>
          <a:p>
            <a:pPr algn="just"/>
            <a:r>
              <a:rPr lang="en-IN" sz="4000" b="1" dirty="0">
                <a:solidFill>
                  <a:srgbClr val="0F3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34440"/>
            <a:ext cx="1993392" cy="2971800"/>
          </a:xfrm>
          <a:prstGeom prst="roundRect">
            <a:avLst/>
          </a:prstGeom>
          <a:solidFill>
            <a:srgbClr val="EDF7FF"/>
          </a:solidFill>
          <a:ln w="10160">
            <a:solidFill>
              <a:srgbClr val="E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69848" y="1389888"/>
            <a:ext cx="438912" cy="438912"/>
          </a:xfrm>
          <a:prstGeom prst="roundRect">
            <a:avLst/>
          </a:prstGeom>
          <a:solidFill>
            <a:schemeClr val="accent2"/>
          </a:solidFill>
          <a:ln w="10160">
            <a:solidFill>
              <a:srgbClr val="20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1490472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4" y="2034196"/>
            <a:ext cx="183794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dirty="0">
                <a:solidFill>
                  <a:srgbClr val="0F3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70048"/>
            <a:ext cx="1627632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dirty="0" err="1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Olist</a:t>
            </a:r>
            <a:r>
              <a:rPr sz="1100" b="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Orders
</a:t>
            </a:r>
            <a:r>
              <a:rPr lang="en-US" sz="1100" dirty="0" err="1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Olist</a:t>
            </a:r>
            <a:r>
              <a:rPr lang="en-US" sz="110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Items
</a:t>
            </a:r>
            <a:r>
              <a:rPr lang="en-US" sz="1100" dirty="0" err="1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Olist</a:t>
            </a:r>
            <a:r>
              <a:rPr lang="en-US" sz="110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13432" y="2697480"/>
            <a:ext cx="274320" cy="0"/>
          </a:xfrm>
          <a:prstGeom prst="line">
            <a:avLst/>
          </a:prstGeom>
          <a:ln w="22860">
            <a:solidFill>
              <a:srgbClr val="20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15184" y="1234440"/>
            <a:ext cx="1993392" cy="2971800"/>
          </a:xfrm>
          <a:prstGeom prst="roundRect">
            <a:avLst/>
          </a:prstGeom>
          <a:solidFill>
            <a:srgbClr val="EDF7FF"/>
          </a:solidFill>
          <a:ln w="10160">
            <a:solidFill>
              <a:srgbClr val="E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364991" y="1389888"/>
            <a:ext cx="438912" cy="438912"/>
          </a:xfrm>
          <a:prstGeom prst="roundRect">
            <a:avLst/>
          </a:prstGeom>
          <a:solidFill>
            <a:schemeClr val="accent4"/>
          </a:solidFill>
          <a:ln w="10160">
            <a:solidFill>
              <a:srgbClr val="20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64991" y="1490472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4682" y="2042288"/>
            <a:ext cx="197815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dirty="0">
                <a:solidFill>
                  <a:srgbClr val="0F3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2670048"/>
            <a:ext cx="1627632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the data
Combine at order level
Keep delivered orders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08576" y="2697480"/>
            <a:ext cx="274320" cy="0"/>
          </a:xfrm>
          <a:prstGeom prst="line">
            <a:avLst/>
          </a:prstGeom>
          <a:ln w="22860">
            <a:solidFill>
              <a:srgbClr val="20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910328" y="1234440"/>
            <a:ext cx="1993392" cy="2971800"/>
          </a:xfrm>
          <a:prstGeom prst="roundRect">
            <a:avLst/>
          </a:prstGeom>
          <a:solidFill>
            <a:srgbClr val="EDF7FF"/>
          </a:solidFill>
          <a:ln w="10160">
            <a:solidFill>
              <a:srgbClr val="E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660136" y="1389888"/>
            <a:ext cx="438912" cy="438912"/>
          </a:xfrm>
          <a:prstGeom prst="roundRect">
            <a:avLst/>
          </a:prstGeom>
          <a:solidFill>
            <a:srgbClr val="0070C0"/>
          </a:solidFill>
          <a:ln w="10160">
            <a:solidFill>
              <a:srgbClr val="20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0136" y="1490472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8616" y="2058399"/>
            <a:ext cx="200253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dirty="0">
                <a:solidFill>
                  <a:srgbClr val="0F3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208" y="2670048"/>
            <a:ext cx="1627632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 delivery rate
Monthly late rate
Review scores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03720" y="2697480"/>
            <a:ext cx="274320" cy="0"/>
          </a:xfrm>
          <a:prstGeom prst="line">
            <a:avLst/>
          </a:prstGeom>
          <a:ln w="22860">
            <a:solidFill>
              <a:srgbClr val="20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05472" y="1234440"/>
            <a:ext cx="1993392" cy="2971800"/>
          </a:xfrm>
          <a:prstGeom prst="roundRect">
            <a:avLst/>
          </a:prstGeom>
          <a:solidFill>
            <a:srgbClr val="EDFAF7"/>
          </a:solidFill>
          <a:ln w="10160">
            <a:solidFill>
              <a:srgbClr val="ED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955279" y="1389888"/>
            <a:ext cx="438912" cy="438912"/>
          </a:xfrm>
          <a:prstGeom prst="roundRect">
            <a:avLst/>
          </a:prstGeom>
          <a:solidFill>
            <a:srgbClr val="23978F"/>
          </a:solidFill>
          <a:ln w="10160">
            <a:solidFill>
              <a:srgbClr val="239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79" y="1490472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9956" y="2053360"/>
            <a:ext cx="2136943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dirty="0">
                <a:solidFill>
                  <a:srgbClr val="0F3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Review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2670048"/>
            <a:ext cx="1627632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Classify 200 reviews
5 fixed themes
Validate 30 reviews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98864" y="2697480"/>
            <a:ext cx="274320" cy="0"/>
          </a:xfrm>
          <a:prstGeom prst="line">
            <a:avLst/>
          </a:prstGeom>
          <a:ln w="22860">
            <a:solidFill>
              <a:srgbClr val="20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00616" y="1234440"/>
            <a:ext cx="1993392" cy="2971800"/>
          </a:xfrm>
          <a:prstGeom prst="roundRect">
            <a:avLst/>
          </a:prstGeom>
          <a:solidFill>
            <a:srgbClr val="EEF9F3"/>
          </a:solidFill>
          <a:ln w="10160">
            <a:solidFill>
              <a:srgbClr val="EEF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250424" y="1389888"/>
            <a:ext cx="438912" cy="438912"/>
          </a:xfrm>
          <a:prstGeom prst="roundRect">
            <a:avLst/>
          </a:prstGeom>
          <a:solidFill>
            <a:srgbClr val="23895E"/>
          </a:solidFill>
          <a:ln w="10160">
            <a:solidFill>
              <a:srgbClr val="238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50424" y="1490472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15356" y="2037178"/>
            <a:ext cx="194462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dirty="0">
                <a:solidFill>
                  <a:srgbClr val="0F3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707" y="2697480"/>
            <a:ext cx="1731264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late vs on-time
Identify key problems
Suggest actions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" y="4526280"/>
            <a:ext cx="11475720" cy="1417320"/>
          </a:xfrm>
          <a:prstGeom prst="roundRect">
            <a:avLst/>
          </a:prstGeom>
          <a:solidFill>
            <a:srgbClr val="F7F9FB"/>
          </a:solidFill>
          <a:ln w="1016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4736592"/>
            <a:ext cx="1143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200" b="1" dirty="0">
                <a:solidFill>
                  <a:srgbClr val="0F3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74519" y="4736592"/>
            <a:ext cx="15087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554480" y="4928616"/>
            <a:ext cx="15087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2070B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31920" y="4736592"/>
            <a:ext cx="15087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11880" y="4928616"/>
            <a:ext cx="15087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 err="1">
                <a:solidFill>
                  <a:srgbClr val="2070B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DuckDB</a:t>
            </a:r>
            <a:endParaRPr sz="1000" b="1" dirty="0">
              <a:solidFill>
                <a:srgbClr val="2070B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5989320" y="4736592"/>
            <a:ext cx="15087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96712" y="4928616"/>
            <a:ext cx="15087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 err="1">
                <a:solidFill>
                  <a:srgbClr val="2070B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sz="1000" b="1" dirty="0">
                <a:solidFill>
                  <a:srgbClr val="2070B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4736592"/>
            <a:ext cx="15087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55636" y="4951476"/>
            <a:ext cx="15087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2070B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D05622E7-2986-B535-FE7E-1CCB14FE1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621" y="4865210"/>
            <a:ext cx="457580" cy="455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B453FBD6-35C3-E707-CF92-F54DD8B8D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000" y="4790789"/>
            <a:ext cx="549974" cy="54997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F816FCB1-CDA7-3DA7-1265-150EF8FC1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848475"/>
            <a:ext cx="434602" cy="434602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E9DFFE13-4A98-5E18-A5E1-197AC4B69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 flipV="1">
            <a:off x="8823173" y="4805734"/>
            <a:ext cx="554735" cy="55473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55CB5FD-BF85-D471-2DC0-2860E45ADC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6564" y="4738561"/>
            <a:ext cx="1609483" cy="75597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3079124A-B1F4-B057-597C-2C4546C86E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0750" y="4820778"/>
            <a:ext cx="496289" cy="496289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AD1B64C3-5611-29FE-61D6-4B90F62B05C3}"/>
              </a:ext>
            </a:extLst>
          </p:cNvPr>
          <p:cNvSpPr txBox="1"/>
          <p:nvPr/>
        </p:nvSpPr>
        <p:spPr>
          <a:xfrm>
            <a:off x="9608473" y="4977138"/>
            <a:ext cx="15087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000" b="1" dirty="0">
                <a:solidFill>
                  <a:srgbClr val="2070B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endParaRPr sz="1000" b="1" dirty="0">
              <a:solidFill>
                <a:srgbClr val="2070B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283464"/>
            <a:ext cx="530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27"/>
            <a:ext cx="12192000" cy="707886"/>
          </a:xfrm>
          <a:prstGeom prst="rect">
            <a:avLst/>
          </a:prstGeom>
          <a:solidFill>
            <a:schemeClr val="accent5"/>
          </a:solidFill>
        </p:spPr>
        <p:txBody>
          <a:bodyPr wrap="square" anchor="t">
            <a:spAutoFit/>
          </a:bodyPr>
          <a:lstStyle/>
          <a:p>
            <a:pPr algn="just"/>
            <a:r>
              <a:rPr lang="en-IN" sz="4000" b="1" dirty="0">
                <a:solidFill>
                  <a:srgbClr val="0F3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93196"/>
            <a:ext cx="3611880" cy="1051560"/>
          </a:xfrm>
          <a:prstGeom prst="roundRect">
            <a:avLst/>
          </a:prstGeom>
          <a:solidFill>
            <a:srgbClr val="EDF7FF"/>
          </a:solidFill>
          <a:ln w="10160">
            <a:solidFill>
              <a:srgbClr val="E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040789"/>
            <a:ext cx="3337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2070BE"/>
                </a:solidFill>
                <a:latin typeface="Aptos"/>
              </a:rPr>
              <a:t>96,470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02300"/>
            <a:ext cx="33375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Delivered 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78807" y="797575"/>
            <a:ext cx="3611880" cy="1051560"/>
          </a:xfrm>
          <a:prstGeom prst="roundRect">
            <a:avLst/>
          </a:prstGeom>
          <a:solidFill>
            <a:srgbClr val="FFF2F2"/>
          </a:solidFill>
          <a:ln w="10160">
            <a:solidFill>
              <a:srgbClr val="FF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15968" y="1040789"/>
            <a:ext cx="3337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CD3131"/>
                </a:solidFill>
                <a:latin typeface="Aptos"/>
              </a:rPr>
              <a:t>6.77%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1435386"/>
            <a:ext cx="33375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 Delivery Rate
6,534 late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0134" y="774278"/>
            <a:ext cx="3611880" cy="1051560"/>
          </a:xfrm>
          <a:prstGeom prst="roundRect">
            <a:avLst/>
          </a:prstGeom>
          <a:solidFill>
            <a:srgbClr val="EEF9F3"/>
          </a:solidFill>
          <a:ln w="10160">
            <a:solidFill>
              <a:srgbClr val="EEF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74736" y="1010142"/>
            <a:ext cx="3337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23895E"/>
                </a:solidFill>
                <a:latin typeface="Aptos"/>
              </a:rPr>
              <a:t>2.27 vs 4.29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1394951"/>
            <a:ext cx="33375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Review Score
Late vs On-Time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659476"/>
              </p:ext>
            </p:extLst>
          </p:nvPr>
        </p:nvGraphicFramePr>
        <p:xfrm>
          <a:off x="320040" y="2331720"/>
          <a:ext cx="644652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54537" y="5608692"/>
            <a:ext cx="5532120" cy="658368"/>
          </a:xfrm>
          <a:prstGeom prst="roundRect">
            <a:avLst/>
          </a:prstGeom>
          <a:solidFill>
            <a:srgbClr val="EDFAF7"/>
          </a:solidFill>
          <a:ln w="10160">
            <a:solidFill>
              <a:srgbClr val="ED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354537" y="5648820"/>
            <a:ext cx="5820758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Optional: Seller-level late-share analysis completed for sellers with 50+ orders.</a:t>
            </a:r>
          </a:p>
          <a:p>
            <a:pPr algn="l"/>
            <a:endParaRPr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54537" y="6346926"/>
            <a:ext cx="5532120" cy="411480"/>
          </a:xfrm>
          <a:prstGeom prst="roundRect">
            <a:avLst/>
          </a:prstGeom>
          <a:solidFill>
            <a:srgbClr val="FFF7EB"/>
          </a:solidFill>
          <a:ln w="10160">
            <a:solidFill>
              <a:srgbClr val="FF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420170"/>
            <a:ext cx="54406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E075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2,781 orders were more than 7 days late → average review score 1.70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6346926"/>
            <a:ext cx="5760720" cy="411480"/>
          </a:xfrm>
          <a:prstGeom prst="roundRect">
            <a:avLst/>
          </a:prstGeom>
          <a:solidFill>
            <a:srgbClr val="EEF9F3"/>
          </a:solidFill>
          <a:ln w="10160">
            <a:solidFill>
              <a:srgbClr val="EEF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4908" y="6414166"/>
            <a:ext cx="5486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2389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Late: 64.71% late/not received  |  On-time: 55.43% good experience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9C9C3A4-CF62-7FCB-FA67-78804702B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917431"/>
            <a:ext cx="6702553" cy="36704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E050A76-C0EB-8200-76C6-192F298396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138" y="1926965"/>
            <a:ext cx="5097436" cy="36210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C58E4FD-F5C5-0CE8-560F-6FD3FBFF1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5990" y="5635334"/>
            <a:ext cx="5798820" cy="72507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DB5624C-D9AD-A8CD-E881-FA97F131475D}"/>
              </a:ext>
            </a:extLst>
          </p:cNvPr>
          <p:cNvSpPr txBox="1"/>
          <p:nvPr/>
        </p:nvSpPr>
        <p:spPr>
          <a:xfrm>
            <a:off x="6229823" y="5775945"/>
            <a:ext cx="5578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Review Validation 26/30 correct      · 86.67%   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FEF2B22-61DD-AFFE-B9D0-B93554B186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0448" y="2679501"/>
            <a:ext cx="3761144" cy="3276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283464"/>
            <a:ext cx="530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-19742"/>
            <a:ext cx="12192000" cy="707886"/>
          </a:xfrm>
          <a:prstGeom prst="rect">
            <a:avLst/>
          </a:prstGeom>
          <a:solidFill>
            <a:schemeClr val="accent5"/>
          </a:solidFill>
        </p:spPr>
        <p:txBody>
          <a:bodyPr wrap="square" anchor="t">
            <a:spAutoFit/>
          </a:bodyPr>
          <a:lstStyle/>
          <a:p>
            <a:pPr algn="just"/>
            <a:r>
              <a:rPr lang="en-IN" sz="4000" b="1" dirty="0">
                <a:solidFill>
                  <a:srgbClr val="0F3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4528" y="832435"/>
            <a:ext cx="73152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0F3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3 actions for the Head of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39" y="1307434"/>
            <a:ext cx="3429000" cy="4251960"/>
          </a:xfrm>
          <a:prstGeom prst="roundRect">
            <a:avLst/>
          </a:prstGeom>
          <a:solidFill>
            <a:srgbClr val="EDF7FF"/>
          </a:solidFill>
          <a:ln w="10160">
            <a:solidFill>
              <a:srgbClr val="E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21207" y="1444752"/>
            <a:ext cx="548640" cy="548640"/>
          </a:xfrm>
          <a:prstGeom prst="roundRect">
            <a:avLst/>
          </a:prstGeom>
          <a:solidFill>
            <a:srgbClr val="2070BE"/>
          </a:solidFill>
          <a:ln w="10160">
            <a:solidFill>
              <a:srgbClr val="20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7" y="1600200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30632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0F3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 Early on Delayed 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59" y="3063240"/>
            <a:ext cx="288036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delayed orders early and take 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06240"/>
            <a:ext cx="297180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4407408"/>
            <a:ext cx="267004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2070B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2,781 orders were more than 7 days late.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59936" y="1303020"/>
            <a:ext cx="3429000" cy="4251960"/>
          </a:xfrm>
          <a:prstGeom prst="roundRect">
            <a:avLst/>
          </a:prstGeom>
          <a:solidFill>
            <a:srgbClr val="FFF7EB"/>
          </a:solidFill>
          <a:ln w="10160">
            <a:solidFill>
              <a:srgbClr val="FF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42816" y="1444752"/>
            <a:ext cx="548640" cy="548640"/>
          </a:xfrm>
          <a:prstGeom prst="roundRect">
            <a:avLst/>
          </a:prstGeom>
          <a:solidFill>
            <a:srgbClr val="E07516"/>
          </a:solidFill>
          <a:ln w="10160">
            <a:solidFill>
              <a:srgbClr val="E07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42816" y="1600200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2240280"/>
            <a:ext cx="30632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0F3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&amp; Fix the Causes of Delays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3063240"/>
            <a:ext cx="288036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why delays are happening and fix the problem.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0248" y="4206240"/>
            <a:ext cx="297180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25696" y="4407408"/>
            <a:ext cx="267004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E075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March 2018 had the highest late rate at 18.96%.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99833" y="1307434"/>
            <a:ext cx="3429000" cy="4251960"/>
          </a:xfrm>
          <a:prstGeom prst="roundRect">
            <a:avLst/>
          </a:prstGeom>
          <a:solidFill>
            <a:srgbClr val="EDFAF7"/>
          </a:solidFill>
          <a:ln w="10160">
            <a:solidFill>
              <a:srgbClr val="ED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37576" y="1471791"/>
            <a:ext cx="548640" cy="548640"/>
          </a:xfrm>
          <a:prstGeom prst="roundRect">
            <a:avLst/>
          </a:prstGeom>
          <a:solidFill>
            <a:srgbClr val="23978F"/>
          </a:solidFill>
          <a:ln w="10160">
            <a:solidFill>
              <a:srgbClr val="239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64424" y="1600200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46136" y="2240280"/>
            <a:ext cx="30632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0F3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Customers Informed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3063240"/>
            <a:ext cx="288036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Tell customers when their orders are delayed.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91856" y="4206240"/>
            <a:ext cx="297180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42732" y="4299686"/>
            <a:ext cx="2670048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2397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64.71% of late-order reviews mentioned late/not received issues.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0994" y="395870"/>
            <a:ext cx="530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5"/>
          </a:solidFill>
        </p:spPr>
        <p:txBody>
          <a:bodyPr wrap="square" anchor="t">
            <a:spAutoFit/>
          </a:bodyPr>
          <a:lstStyle/>
          <a:p>
            <a:pPr algn="just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WHAT I LEARNED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0780" y="1402491"/>
            <a:ext cx="5486400" cy="1691640"/>
          </a:xfrm>
          <a:prstGeom prst="roundRect">
            <a:avLst/>
          </a:prstGeom>
          <a:solidFill>
            <a:srgbClr val="EDF7FF"/>
          </a:solidFill>
          <a:ln w="10160">
            <a:solidFill>
              <a:srgbClr val="E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49834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F3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Data Quality Is Important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39112"/>
            <a:ext cx="487876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needs to be cleaned and validated before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3484" y="1361976"/>
            <a:ext cx="5486400" cy="1691640"/>
          </a:xfrm>
          <a:prstGeom prst="roundRect">
            <a:avLst/>
          </a:prstGeom>
          <a:solidFill>
            <a:srgbClr val="EDFAF7"/>
          </a:solidFill>
          <a:ln w="10160">
            <a:solidFill>
              <a:srgbClr val="ED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15100" y="1375593"/>
            <a:ext cx="498348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F3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Late Delivery Impacts Customer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2156558"/>
            <a:ext cx="49834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 orders received lower review scores than on-time orders.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80" y="3328828"/>
            <a:ext cx="5486400" cy="1691640"/>
          </a:xfrm>
          <a:prstGeom prst="roundRect">
            <a:avLst/>
          </a:prstGeom>
          <a:solidFill>
            <a:srgbClr val="FFF7EB"/>
          </a:solidFill>
          <a:ln w="10160">
            <a:solidFill>
              <a:srgbClr val="FF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429000"/>
            <a:ext cx="49834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F3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Customer Reviews Give Useful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50791"/>
            <a:ext cx="53797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comments helped understand the problems faced by customers.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328828"/>
            <a:ext cx="5486400" cy="1691640"/>
          </a:xfrm>
          <a:prstGeom prst="roundRect">
            <a:avLst/>
          </a:prstGeom>
          <a:solidFill>
            <a:srgbClr val="F5F2FD"/>
          </a:solidFill>
          <a:ln w="10160">
            <a:solidFill>
              <a:srgbClr val="F5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6792" y="3429000"/>
            <a:ext cx="49834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F3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AI Results Need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2084" y="3875880"/>
            <a:ext cx="525780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LLM helped classify reviews, but the results still needed manual checking.
26/30 correct — 86.67%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5419677"/>
            <a:ext cx="11274552" cy="914400"/>
          </a:xfrm>
          <a:prstGeom prst="roundRect">
            <a:avLst/>
          </a:prstGeom>
          <a:solidFill>
            <a:srgbClr val="EDF7FF"/>
          </a:solidFill>
          <a:ln w="10160">
            <a:solidFill>
              <a:srgbClr val="E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4029" y="5720659"/>
            <a:ext cx="1695377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0F3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Takeaway</a:t>
            </a:r>
            <a:r>
              <a:rPr lang="en-US" sz="1400" b="1" dirty="0">
                <a:solidFill>
                  <a:srgbClr val="0F3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sz="1400" b="1" dirty="0">
              <a:solidFill>
                <a:srgbClr val="0F3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24548" y="5692017"/>
            <a:ext cx="89154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dirty="0">
                <a:solidFill>
                  <a:srgbClr val="1E2D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learned how to turn raw data and customer feedback into useful business insights.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4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800600" y="3246120"/>
            <a:ext cx="2606040" cy="54864"/>
          </a:xfrm>
          <a:prstGeom prst="rect">
            <a:avLst/>
          </a:prstGeom>
          <a:solidFill>
            <a:srgbClr val="22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431649" y="2240280"/>
            <a:ext cx="3325654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43448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373</TotalTime>
  <Words>450</Words>
  <Application>Microsoft Office PowerPoint</Application>
  <PresentationFormat>Widescreen</PresentationFormat>
  <Paragraphs>84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keerthika n</dc:creator>
  <cp:keywords/>
  <dc:description>generated using python-pptx</dc:description>
  <cp:lastModifiedBy>keerthika n</cp:lastModifiedBy>
  <cp:revision>2</cp:revision>
  <dcterms:created xsi:type="dcterms:W3CDTF">2013-01-27T09:14:16Z</dcterms:created>
  <dcterms:modified xsi:type="dcterms:W3CDTF">2026-10-08T09:49:23Z</dcterms:modified>
  <cp:category/>
</cp:coreProperties>
</file>